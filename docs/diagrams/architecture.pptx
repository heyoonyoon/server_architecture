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743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수강신청 시스템 인프라 아키텍처</a:t>
            </a:r>
            <a:endParaRPr lang="en-US" sz="2200" dirty="0"/>
          </a:p>
        </p:txBody>
      </p:sp>
      <p:sp>
        <p:nvSpPr>
          <p:cNvPr id="3" name="group-laptop"/>
          <p:cNvSpPr/>
          <p:nvPr/>
        </p:nvSpPr>
        <p:spPr>
          <a:xfrm>
            <a:off x="274320" y="1828800"/>
            <a:ext cx="1234440" cy="15087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4" name="group-laptop-title"/>
          <p:cNvSpPr txBox="1"/>
          <p:nvPr/>
        </p:nvSpPr>
        <p:spPr>
          <a:xfrm>
            <a:off x="274320" y="19019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노트북 (macOS)</a:t>
            </a:r>
            <a:endParaRPr lang="en-US" sz="1100" dirty="0"/>
          </a:p>
        </p:txBody>
      </p:sp>
      <p:sp>
        <p:nvSpPr>
          <p:cNvPr id="5" name="laptop-screen"/>
          <p:cNvSpPr/>
          <p:nvPr/>
        </p:nvSpPr>
        <p:spPr>
          <a:xfrm>
            <a:off x="566928" y="2212848"/>
            <a:ext cx="649224" cy="420624"/>
          </a:xfrm>
          <a:prstGeom prst="roundRect">
            <a:avLst>
              <a:gd name="adj" fmla="val 8696"/>
            </a:avLst>
          </a:prstGeom>
          <a:solidFill>
            <a:srgbClr val="E0F2FE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6" name="laptop-base"/>
          <p:cNvSpPr/>
          <p:nvPr/>
        </p:nvSpPr>
        <p:spPr>
          <a:xfrm>
            <a:off x="475488" y="2633472"/>
            <a:ext cx="832104" cy="64008"/>
          </a:xfrm>
          <a:prstGeom prst="roundRect">
            <a:avLst>
              <a:gd name="adj" fmla="val 42857"/>
            </a:avLst>
          </a:prstGeom>
          <a:solidFill>
            <a:srgbClr val="0369A1"/>
          </a:solidFill>
          <a:ln w="6350">
            <a:solidFill>
              <a:srgbClr val="0369A1"/>
            </a:solidFill>
            <a:prstDash val="solid"/>
          </a:ln>
        </p:spPr>
      </p:sp>
      <p:pic>
        <p:nvPicPr>
          <p:cNvPr id="7" name="icon-chrom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295144"/>
            <a:ext cx="256032" cy="256032"/>
          </a:xfrm>
          <a:prstGeom prst="rect">
            <a:avLst/>
          </a:prstGeom>
        </p:spPr>
      </p:pic>
      <p:sp>
        <p:nvSpPr>
          <p:cNvPr id="8" name="label-browser"/>
          <p:cNvSpPr txBox="1"/>
          <p:nvPr/>
        </p:nvSpPr>
        <p:spPr>
          <a:xfrm>
            <a:off x="274320" y="27614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</a:t>
            </a:r>
            <a:endParaRPr lang="en-US" sz="1100" dirty="0"/>
          </a:p>
        </p:txBody>
      </p:sp>
      <p:sp>
        <p:nvSpPr>
          <p:cNvPr id="9" name="desc-browser"/>
          <p:cNvSpPr txBox="1"/>
          <p:nvPr/>
        </p:nvSpPr>
        <p:spPr>
          <a:xfrm>
            <a:off x="274320" y="2962656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실행, REST 요청</a:t>
            </a:r>
            <a:endParaRPr lang="en-US" sz="1000" dirty="0"/>
          </a:p>
        </p:txBody>
      </p:sp>
      <p:sp>
        <p:nvSpPr>
          <p:cNvPr id="10" name="vm-sa-lb"/>
          <p:cNvSpPr/>
          <p:nvPr/>
        </p:nvSpPr>
        <p:spPr>
          <a:xfrm>
            <a:off x="1783080" y="1463040"/>
            <a:ext cx="1920240" cy="33375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11" name="vm-sa-lb-ubuntu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1545336"/>
            <a:ext cx="182880" cy="182880"/>
          </a:xfrm>
          <a:prstGeom prst="rect">
            <a:avLst/>
          </a:prstGeom>
        </p:spPr>
      </p:pic>
      <p:sp>
        <p:nvSpPr>
          <p:cNvPr id="12" name="vm-sa-lb-title"/>
          <p:cNvSpPr txBox="1"/>
          <p:nvPr/>
        </p:nvSpPr>
        <p:spPr>
          <a:xfrm>
            <a:off x="2130552" y="1527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sa-lb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192.168.64.30</a:t>
            </a:r>
            <a:endParaRPr lang="en-US" sz="1000" dirty="0"/>
          </a:p>
        </p:txBody>
      </p:sp>
      <p:pic>
        <p:nvPicPr>
          <p:cNvPr id="13" name="icon-ngin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1874520"/>
            <a:ext cx="457200" cy="457200"/>
          </a:xfrm>
          <a:prstGeom prst="rect">
            <a:avLst/>
          </a:prstGeom>
        </p:spPr>
      </p:pic>
      <p:pic>
        <p:nvPicPr>
          <p:cNvPr id="14" name="icon-reac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1874520"/>
            <a:ext cx="457200" cy="457200"/>
          </a:xfrm>
          <a:prstGeom prst="rect">
            <a:avLst/>
          </a:prstGeom>
        </p:spPr>
      </p:pic>
      <p:sp>
        <p:nvSpPr>
          <p:cNvPr id="15" name="label-nginx"/>
          <p:cNvSpPr txBox="1"/>
          <p:nvPr/>
        </p:nvSpPr>
        <p:spPr>
          <a:xfrm>
            <a:off x="1828800" y="2368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nginx :80</a:t>
            </a:r>
            <a:endParaRPr lang="en-US" sz="1100" dirty="0"/>
          </a:p>
        </p:txBody>
      </p:sp>
      <p:sp>
        <p:nvSpPr>
          <p:cNvPr id="16" name="desc-nginx"/>
          <p:cNvSpPr txBox="1"/>
          <p:nvPr/>
        </p:nvSpPr>
        <p:spPr>
          <a:xfrm>
            <a:off x="1801368" y="256946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 빌드 파일(HTML, JS) 제공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/api/* 요청은 Envoy로 전달</a:t>
            </a:r>
            <a:endParaRPr lang="en-US" sz="950" dirty="0"/>
          </a:p>
        </p:txBody>
      </p:sp>
      <p:pic>
        <p:nvPicPr>
          <p:cNvPr id="17" name="icon-envo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474720"/>
            <a:ext cx="457200" cy="457200"/>
          </a:xfrm>
          <a:prstGeom prst="rect">
            <a:avLst/>
          </a:prstGeom>
        </p:spPr>
      </p:pic>
      <p:sp>
        <p:nvSpPr>
          <p:cNvPr id="18" name="label-envoy"/>
          <p:cNvSpPr txBox="1"/>
          <p:nvPr/>
        </p:nvSpPr>
        <p:spPr>
          <a:xfrm>
            <a:off x="1828800" y="3968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Envoy :8080</a:t>
            </a:r>
            <a:endParaRPr lang="en-US" sz="1100" dirty="0"/>
          </a:p>
        </p:txBody>
      </p:sp>
      <p:sp>
        <p:nvSpPr>
          <p:cNvPr id="19" name="desc-envoy"/>
          <p:cNvSpPr txBox="1"/>
          <p:nvPr/>
        </p:nvSpPr>
        <p:spPr>
          <a:xfrm>
            <a:off x="1828800" y="41696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REST/JSON → gRPC 변환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라운드로빈, 타임아웃, CORS</a:t>
            </a:r>
            <a:endParaRPr lang="en-US" sz="1000" dirty="0"/>
          </a:p>
        </p:txBody>
      </p:sp>
      <p:sp>
        <p:nvSpPr>
          <p:cNvPr id="20" name="vm-sa-app1"/>
          <p:cNvSpPr/>
          <p:nvPr/>
        </p:nvSpPr>
        <p:spPr>
          <a:xfrm>
            <a:off x="4206240" y="91440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21" name="vm-sa-app1-ubuntu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996696"/>
            <a:ext cx="182880" cy="182880"/>
          </a:xfrm>
          <a:prstGeom prst="rect">
            <a:avLst/>
          </a:prstGeom>
        </p:spPr>
      </p:pic>
      <p:sp>
        <p:nvSpPr>
          <p:cNvPr id="22" name="vm-sa-app1-title"/>
          <p:cNvSpPr txBox="1"/>
          <p:nvPr/>
        </p:nvSpPr>
        <p:spPr>
          <a:xfrm>
            <a:off x="4553712" y="9784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sa-app1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192.168.64.31</a:t>
            </a:r>
            <a:endParaRPr lang="en-US" sz="1000" dirty="0"/>
          </a:p>
        </p:txBody>
      </p:sp>
      <p:pic>
        <p:nvPicPr>
          <p:cNvPr id="23" name="icon-app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280160"/>
            <a:ext cx="457200" cy="457200"/>
          </a:xfrm>
          <a:prstGeom prst="rect">
            <a:avLst/>
          </a:prstGeom>
        </p:spPr>
      </p:pic>
      <p:sp>
        <p:nvSpPr>
          <p:cNvPr id="24" name="label-app1"/>
          <p:cNvSpPr txBox="1"/>
          <p:nvPr/>
        </p:nvSpPr>
        <p:spPr>
          <a:xfrm>
            <a:off x="4297680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gRPC 서버 (Java)</a:t>
            </a:r>
            <a:endParaRPr lang="en-US" sz="1100" dirty="0"/>
          </a:p>
        </p:txBody>
      </p:sp>
      <p:sp>
        <p:nvSpPr>
          <p:cNvPr id="25" name="desc-app1"/>
          <p:cNvSpPr txBox="1"/>
          <p:nvPr/>
        </p:nvSpPr>
        <p:spPr>
          <a:xfrm>
            <a:off x="4297680" y="1975104"/>
            <a:ext cx="182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JWT 인증, 권한, 접근 로그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로그인, 학생/과목 관리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대기열, 수강신청 API</a:t>
            </a:r>
            <a:endParaRPr lang="en-US" sz="1000" dirty="0"/>
          </a:p>
        </p:txBody>
      </p:sp>
      <p:pic>
        <p:nvPicPr>
          <p:cNvPr id="26" name="icon-app1-docker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7880" y="2596896"/>
            <a:ext cx="228600" cy="228600"/>
          </a:xfrm>
          <a:prstGeom prst="rect">
            <a:avLst/>
          </a:prstGeom>
        </p:spPr>
      </p:pic>
      <p:sp>
        <p:nvSpPr>
          <p:cNvPr id="27" name="vm-sa-app2"/>
          <p:cNvSpPr/>
          <p:nvPr/>
        </p:nvSpPr>
        <p:spPr>
          <a:xfrm>
            <a:off x="4206240" y="324612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28" name="vm-sa-app2-ubuntu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5968" y="3328416"/>
            <a:ext cx="182880" cy="182880"/>
          </a:xfrm>
          <a:prstGeom prst="rect">
            <a:avLst/>
          </a:prstGeom>
        </p:spPr>
      </p:pic>
      <p:sp>
        <p:nvSpPr>
          <p:cNvPr id="29" name="vm-sa-app2-title"/>
          <p:cNvSpPr txBox="1"/>
          <p:nvPr/>
        </p:nvSpPr>
        <p:spPr>
          <a:xfrm>
            <a:off x="4553712" y="33101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sa-app2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192.168.64.32</a:t>
            </a:r>
            <a:endParaRPr lang="en-US" sz="1000" dirty="0"/>
          </a:p>
        </p:txBody>
      </p:sp>
      <p:pic>
        <p:nvPicPr>
          <p:cNvPr id="30" name="icon-app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611880"/>
            <a:ext cx="457200" cy="457200"/>
          </a:xfrm>
          <a:prstGeom prst="rect">
            <a:avLst/>
          </a:prstGeom>
        </p:spPr>
      </p:pic>
      <p:sp>
        <p:nvSpPr>
          <p:cNvPr id="31" name="label-app2"/>
          <p:cNvSpPr txBox="1"/>
          <p:nvPr/>
        </p:nvSpPr>
        <p:spPr>
          <a:xfrm>
            <a:off x="4297680" y="4105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gRPC 서버 (Java)</a:t>
            </a:r>
            <a:endParaRPr lang="en-US" sz="1100" dirty="0"/>
          </a:p>
        </p:txBody>
      </p:sp>
      <p:sp>
        <p:nvSpPr>
          <p:cNvPr id="32" name="desc-app2"/>
          <p:cNvSpPr txBox="1"/>
          <p:nvPr/>
        </p:nvSpPr>
        <p:spPr>
          <a:xfrm>
            <a:off x="4297680" y="430682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app1과 같은 코드</a:t>
            </a:r>
            <a:endParaRPr lang="en-US" sz="1000" dirty="0"/>
          </a:p>
        </p:txBody>
      </p:sp>
      <p:pic>
        <p:nvPicPr>
          <p:cNvPr id="33" name="icon-app2-docker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7880" y="4910328"/>
            <a:ext cx="228600" cy="228600"/>
          </a:xfrm>
          <a:prstGeom prst="rect">
            <a:avLst/>
          </a:prstGeom>
        </p:spPr>
      </p:pic>
      <p:sp>
        <p:nvSpPr>
          <p:cNvPr id="34" name="vm-sa-infra"/>
          <p:cNvSpPr/>
          <p:nvPr/>
        </p:nvSpPr>
        <p:spPr>
          <a:xfrm>
            <a:off x="7114032" y="914400"/>
            <a:ext cx="4800600" cy="269748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35" name="vm-sa-infra-ubuntu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3760" y="996696"/>
            <a:ext cx="182880" cy="182880"/>
          </a:xfrm>
          <a:prstGeom prst="rect">
            <a:avLst/>
          </a:prstGeom>
        </p:spPr>
      </p:pic>
      <p:sp>
        <p:nvSpPr>
          <p:cNvPr id="36" name="vm-sa-infra-title"/>
          <p:cNvSpPr txBox="1"/>
          <p:nvPr/>
        </p:nvSpPr>
        <p:spPr>
          <a:xfrm>
            <a:off x="7461504" y="97840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sa-infra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192.168.64.34</a:t>
            </a:r>
            <a:endParaRPr lang="en-US" sz="1000" dirty="0"/>
          </a:p>
        </p:txBody>
      </p:sp>
      <p:pic>
        <p:nvPicPr>
          <p:cNvPr id="37" name="icon-redis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1524" y="1280160"/>
            <a:ext cx="411480" cy="411480"/>
          </a:xfrm>
          <a:prstGeom prst="rect">
            <a:avLst/>
          </a:prstGeom>
        </p:spPr>
      </p:pic>
      <p:sp>
        <p:nvSpPr>
          <p:cNvPr id="38" name="label-redis"/>
          <p:cNvSpPr txBox="1"/>
          <p:nvPr/>
        </p:nvSpPr>
        <p:spPr>
          <a:xfrm>
            <a:off x="7141464" y="1728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Redis</a:t>
            </a:r>
            <a:endParaRPr lang="en-US" sz="1100" dirty="0"/>
          </a:p>
        </p:txBody>
      </p:sp>
      <p:sp>
        <p:nvSpPr>
          <p:cNvPr id="39" name="desc-redis"/>
          <p:cNvSpPr txBox="1"/>
          <p:nvPr/>
        </p:nvSpPr>
        <p:spPr>
          <a:xfrm>
            <a:off x="7141464" y="19293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대기열, 입장권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남은 자리, 내 신청 목록</a:t>
            </a:r>
            <a:endParaRPr lang="en-US" sz="1000" dirty="0"/>
          </a:p>
        </p:txBody>
      </p:sp>
      <p:pic>
        <p:nvPicPr>
          <p:cNvPr id="40" name="icon-kafka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1524" y="2377440"/>
            <a:ext cx="411480" cy="411480"/>
          </a:xfrm>
          <a:prstGeom prst="rect">
            <a:avLst/>
          </a:prstGeom>
        </p:spPr>
      </p:pic>
      <p:sp>
        <p:nvSpPr>
          <p:cNvPr id="41" name="label-kafka"/>
          <p:cNvSpPr txBox="1"/>
          <p:nvPr/>
        </p:nvSpPr>
        <p:spPr>
          <a:xfrm>
            <a:off x="7141464" y="28254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Kafka</a:t>
            </a:r>
            <a:endParaRPr lang="en-US" sz="1100" dirty="0"/>
          </a:p>
        </p:txBody>
      </p:sp>
      <p:sp>
        <p:nvSpPr>
          <p:cNvPr id="42" name="desc-kafka"/>
          <p:cNvSpPr txBox="1"/>
          <p:nvPr/>
        </p:nvSpPr>
        <p:spPr>
          <a:xfrm>
            <a:off x="7141464" y="3026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enrollment-events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신청/취소 이벤트</a:t>
            </a:r>
            <a:endParaRPr lang="en-US" sz="1000" dirty="0"/>
          </a:p>
        </p:txBody>
      </p:sp>
      <p:pic>
        <p:nvPicPr>
          <p:cNvPr id="43" name="icon-queue-worker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58300" y="1280160"/>
            <a:ext cx="411480" cy="411480"/>
          </a:xfrm>
          <a:prstGeom prst="rect">
            <a:avLst/>
          </a:prstGeom>
        </p:spPr>
      </p:pic>
      <p:sp>
        <p:nvSpPr>
          <p:cNvPr id="44" name="label-queue-worker"/>
          <p:cNvSpPr txBox="1"/>
          <p:nvPr/>
        </p:nvSpPr>
        <p:spPr>
          <a:xfrm>
            <a:off x="8595360" y="17282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queue-worker (1개)</a:t>
            </a:r>
            <a:endParaRPr lang="en-US" sz="1100" dirty="0"/>
          </a:p>
        </p:txBody>
      </p:sp>
      <p:sp>
        <p:nvSpPr>
          <p:cNvPr id="45" name="desc-queue-worker"/>
          <p:cNvSpPr txBox="1"/>
          <p:nvPr/>
        </p:nvSpPr>
        <p:spPr>
          <a:xfrm>
            <a:off x="8595360" y="192938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0.5초마다 입장 처리</a:t>
            </a:r>
            <a:endParaRPr lang="en-US" sz="1000" dirty="0"/>
          </a:p>
        </p:txBody>
      </p:sp>
      <p:pic>
        <p:nvPicPr>
          <p:cNvPr id="46" name="icon-enrollment-consumer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58300" y="2377440"/>
            <a:ext cx="411480" cy="411480"/>
          </a:xfrm>
          <a:prstGeom prst="rect">
            <a:avLst/>
          </a:prstGeom>
        </p:spPr>
      </p:pic>
      <p:sp>
        <p:nvSpPr>
          <p:cNvPr id="47" name="label-enrollment-consumer"/>
          <p:cNvSpPr txBox="1"/>
          <p:nvPr/>
        </p:nvSpPr>
        <p:spPr>
          <a:xfrm>
            <a:off x="8549640" y="2825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enrollment-consumer (1개)</a:t>
            </a:r>
            <a:endParaRPr lang="en-US" sz="1100" dirty="0"/>
          </a:p>
        </p:txBody>
      </p:sp>
      <p:sp>
        <p:nvSpPr>
          <p:cNvPr id="48" name="desc-enrollment-consumer"/>
          <p:cNvSpPr txBox="1"/>
          <p:nvPr/>
        </p:nvSpPr>
        <p:spPr>
          <a:xfrm>
            <a:off x="8549640" y="302666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Kafka → DB 저장</a:t>
            </a:r>
            <a:endParaRPr lang="en-US" sz="1000" dirty="0"/>
          </a:p>
        </p:txBody>
      </p:sp>
      <p:sp>
        <p:nvSpPr>
          <p:cNvPr id="49" name="infra-monitoring-divider"/>
          <p:cNvSpPr/>
          <p:nvPr/>
        </p:nvSpPr>
        <p:spPr>
          <a:xfrm>
            <a:off x="10469880" y="1005840"/>
            <a:ext cx="0" cy="2514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0" name="label-monitoring"/>
          <p:cNvSpPr txBox="1"/>
          <p:nvPr/>
        </p:nvSpPr>
        <p:spPr>
          <a:xfrm>
            <a:off x="10643616" y="978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모니터링</a:t>
            </a:r>
            <a:endParaRPr lang="en-US" sz="1000" dirty="0"/>
          </a:p>
        </p:txBody>
      </p:sp>
      <p:pic>
        <p:nvPicPr>
          <p:cNvPr id="51" name="icon-prometheus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00232" y="1261872"/>
            <a:ext cx="384048" cy="384048"/>
          </a:xfrm>
          <a:prstGeom prst="rect">
            <a:avLst/>
          </a:prstGeom>
        </p:spPr>
      </p:pic>
      <p:sp>
        <p:nvSpPr>
          <p:cNvPr id="52" name="label-prometheus"/>
          <p:cNvSpPr txBox="1"/>
          <p:nvPr/>
        </p:nvSpPr>
        <p:spPr>
          <a:xfrm>
            <a:off x="10552176" y="1682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53" name="desc-prometheus"/>
          <p:cNvSpPr txBox="1"/>
          <p:nvPr/>
        </p:nvSpPr>
        <p:spPr>
          <a:xfrm>
            <a:off x="10552176" y="1883664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5초마다 지표 수집</a:t>
            </a:r>
            <a:endParaRPr lang="en-US" sz="1000" dirty="0"/>
          </a:p>
        </p:txBody>
      </p:sp>
      <p:pic>
        <p:nvPicPr>
          <p:cNvPr id="54" name="icon-grafana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00232" y="2377440"/>
            <a:ext cx="384048" cy="384048"/>
          </a:xfrm>
          <a:prstGeom prst="rect">
            <a:avLst/>
          </a:prstGeom>
        </p:spPr>
      </p:pic>
      <p:sp>
        <p:nvSpPr>
          <p:cNvPr id="55" name="label-grafana"/>
          <p:cNvSpPr txBox="1"/>
          <p:nvPr/>
        </p:nvSpPr>
        <p:spPr>
          <a:xfrm>
            <a:off x="10552176" y="27980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Grafana</a:t>
            </a:r>
            <a:endParaRPr lang="en-US" sz="1100" dirty="0"/>
          </a:p>
        </p:txBody>
      </p:sp>
      <p:sp>
        <p:nvSpPr>
          <p:cNvPr id="56" name="desc-grafana"/>
          <p:cNvSpPr txBox="1"/>
          <p:nvPr/>
        </p:nvSpPr>
        <p:spPr>
          <a:xfrm>
            <a:off x="10552176" y="299923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그래프 대시보드</a:t>
            </a:r>
            <a:endParaRPr lang="en-US" sz="1000" dirty="0"/>
          </a:p>
        </p:txBody>
      </p:sp>
      <p:sp>
        <p:nvSpPr>
          <p:cNvPr id="57" name="vm-sa-db"/>
          <p:cNvSpPr/>
          <p:nvPr/>
        </p:nvSpPr>
        <p:spPr>
          <a:xfrm>
            <a:off x="7114032" y="3886200"/>
            <a:ext cx="4800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58" name="vm-sa-db-ubuntu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3760" y="3968496"/>
            <a:ext cx="182880" cy="182880"/>
          </a:xfrm>
          <a:prstGeom prst="rect">
            <a:avLst/>
          </a:prstGeom>
        </p:spPr>
      </p:pic>
      <p:sp>
        <p:nvSpPr>
          <p:cNvPr id="59" name="vm-sa-db-title"/>
          <p:cNvSpPr txBox="1"/>
          <p:nvPr/>
        </p:nvSpPr>
        <p:spPr>
          <a:xfrm>
            <a:off x="7461504" y="395020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sa-db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192.168.64.33</a:t>
            </a:r>
            <a:endParaRPr lang="en-US" sz="1000" dirty="0"/>
          </a:p>
        </p:txBody>
      </p:sp>
      <p:pic>
        <p:nvPicPr>
          <p:cNvPr id="60" name="icon-postgresql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12580" y="4206240"/>
            <a:ext cx="502920" cy="502920"/>
          </a:xfrm>
          <a:prstGeom prst="rect">
            <a:avLst/>
          </a:prstGeom>
        </p:spPr>
      </p:pic>
      <p:sp>
        <p:nvSpPr>
          <p:cNvPr id="61" name="label-postgresql"/>
          <p:cNvSpPr txBox="1"/>
          <p:nvPr/>
        </p:nvSpPr>
        <p:spPr>
          <a:xfrm>
            <a:off x="9875520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62" name="desc-postgresql"/>
          <p:cNvSpPr txBox="1"/>
          <p:nvPr/>
        </p:nvSpPr>
        <p:spPr>
          <a:xfrm>
            <a:off x="9875520" y="4315968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장부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users, student, professor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course, course_offering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enrollment</a:t>
            </a:r>
            <a:endParaRPr lang="en-US" sz="1000" dirty="0"/>
          </a:p>
        </p:txBody>
      </p:sp>
      <p:sp>
        <p:nvSpPr>
          <p:cNvPr id="63" name="arrow-1-browser-nginx"/>
          <p:cNvSpPr/>
          <p:nvPr/>
        </p:nvSpPr>
        <p:spPr>
          <a:xfrm>
            <a:off x="1508760" y="2103120"/>
            <a:ext cx="67665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4" name="badge-1"/>
          <p:cNvSpPr/>
          <p:nvPr/>
        </p:nvSpPr>
        <p:spPr>
          <a:xfrm>
            <a:off x="1531620" y="1988820"/>
            <a:ext cx="228600" cy="22860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00" dirty="0"/>
          </a:p>
        </p:txBody>
      </p:sp>
      <p:sp>
        <p:nvSpPr>
          <p:cNvPr id="65" name="arrow-2-nginx-envoy"/>
          <p:cNvSpPr/>
          <p:nvPr/>
        </p:nvSpPr>
        <p:spPr>
          <a:xfrm>
            <a:off x="2743200" y="2990088"/>
            <a:ext cx="0" cy="448056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6" name="badge-2"/>
          <p:cNvSpPr/>
          <p:nvPr/>
        </p:nvSpPr>
        <p:spPr>
          <a:xfrm>
            <a:off x="2628900" y="3099816"/>
            <a:ext cx="228600" cy="22860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000" dirty="0"/>
          </a:p>
        </p:txBody>
      </p:sp>
      <p:sp>
        <p:nvSpPr>
          <p:cNvPr id="67" name="arrow-3-envoy-app1"/>
          <p:cNvSpPr/>
          <p:nvPr/>
        </p:nvSpPr>
        <p:spPr>
          <a:xfrm>
            <a:off x="2990088" y="1508760"/>
            <a:ext cx="1947672" cy="2075688"/>
          </a:xfrm>
          <a:custGeom>
            <a:avLst/>
            <a:gdLst/>
            <a:ahLst/>
            <a:cxnLst/>
            <a:rect l="l" t="t" r="r" b="b"/>
            <a:pathLst>
              <a:path w="1947672" h="2075688">
                <a:moveTo>
                  <a:pt x="0" y="2075688"/>
                </a:moveTo>
                <a:lnTo>
                  <a:pt x="987552" y="2075688"/>
                </a:lnTo>
                <a:lnTo>
                  <a:pt x="987552" y="0"/>
                </a:lnTo>
                <a:lnTo>
                  <a:pt x="1947672" y="0"/>
                </a:lnTo>
              </a:path>
            </a:pathLst>
          </a:custGeom>
          <a:noFill/>
          <a:ln w="2222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68" name="badge-3-app1"/>
          <p:cNvSpPr/>
          <p:nvPr/>
        </p:nvSpPr>
        <p:spPr>
          <a:xfrm>
            <a:off x="3863340" y="2446020"/>
            <a:ext cx="228600" cy="228600"/>
          </a:xfrm>
          <a:prstGeom prst="ellipse">
            <a:avLst/>
          </a:prstGeom>
          <a:solidFill>
            <a:srgbClr val="16A34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000" dirty="0"/>
          </a:p>
        </p:txBody>
      </p:sp>
      <p:sp>
        <p:nvSpPr>
          <p:cNvPr id="69" name="arrow-3-envoy-app2"/>
          <p:cNvSpPr/>
          <p:nvPr/>
        </p:nvSpPr>
        <p:spPr>
          <a:xfrm>
            <a:off x="2990088" y="3840480"/>
            <a:ext cx="1947672" cy="0"/>
          </a:xfrm>
          <a:prstGeom prst="line">
            <a:avLst/>
          </a:prstGeom>
          <a:noFill/>
          <a:ln w="2222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70" name="badge-3-app2"/>
          <p:cNvSpPr/>
          <p:nvPr/>
        </p:nvSpPr>
        <p:spPr>
          <a:xfrm>
            <a:off x="3845052" y="3726180"/>
            <a:ext cx="228600" cy="228600"/>
          </a:xfrm>
          <a:prstGeom prst="ellipse">
            <a:avLst/>
          </a:prstGeom>
          <a:solidFill>
            <a:srgbClr val="16A34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000" dirty="0"/>
          </a:p>
        </p:txBody>
      </p:sp>
      <p:sp>
        <p:nvSpPr>
          <p:cNvPr id="71" name="arrow-4-7-app1-redis"/>
          <p:cNvSpPr/>
          <p:nvPr/>
        </p:nvSpPr>
        <p:spPr>
          <a:xfrm>
            <a:off x="5468112" y="1344168"/>
            <a:ext cx="2121408" cy="0"/>
          </a:xfrm>
          <a:prstGeom prst="line">
            <a:avLst/>
          </a:prstGeom>
          <a:noFill/>
          <a:ln w="22225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72" name="arrow-8-app1-kafka"/>
          <p:cNvSpPr/>
          <p:nvPr/>
        </p:nvSpPr>
        <p:spPr>
          <a:xfrm>
            <a:off x="5468112" y="1508760"/>
            <a:ext cx="2121408" cy="960120"/>
          </a:xfrm>
          <a:custGeom>
            <a:avLst/>
            <a:gdLst/>
            <a:ahLst/>
            <a:cxnLst/>
            <a:rect l="l" t="t" r="r" b="b"/>
            <a:pathLst>
              <a:path w="2121408" h="960120">
                <a:moveTo>
                  <a:pt x="0" y="0"/>
                </a:moveTo>
                <a:lnTo>
                  <a:pt x="1207008" y="0"/>
                </a:lnTo>
                <a:lnTo>
                  <a:pt x="1207008" y="960120"/>
                </a:lnTo>
                <a:lnTo>
                  <a:pt x="2121408" y="960120"/>
                </a:lnTo>
              </a:path>
            </a:pathLst>
          </a:custGeom>
          <a:noFill/>
          <a:ln w="2222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73" name="arrow-6-app1-postgresql"/>
          <p:cNvSpPr/>
          <p:nvPr/>
        </p:nvSpPr>
        <p:spPr>
          <a:xfrm>
            <a:off x="5468112" y="1673352"/>
            <a:ext cx="3712464" cy="2642616"/>
          </a:xfrm>
          <a:custGeom>
            <a:avLst/>
            <a:gdLst/>
            <a:ahLst/>
            <a:cxnLst/>
            <a:rect l="l" t="t" r="r" b="b"/>
            <a:pathLst>
              <a:path w="3712464" h="2642616">
                <a:moveTo>
                  <a:pt x="0" y="0"/>
                </a:moveTo>
                <a:lnTo>
                  <a:pt x="1060704" y="0"/>
                </a:lnTo>
                <a:lnTo>
                  <a:pt x="1060704" y="2642616"/>
                </a:lnTo>
                <a:lnTo>
                  <a:pt x="3712464" y="2642616"/>
                </a:lnTo>
              </a:path>
            </a:pathLst>
          </a:custGeom>
          <a:noFill/>
          <a:ln w="2222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74" name="arrow-4-7-app2-redis"/>
          <p:cNvSpPr/>
          <p:nvPr/>
        </p:nvSpPr>
        <p:spPr>
          <a:xfrm>
            <a:off x="5468112" y="1600200"/>
            <a:ext cx="2121408" cy="2075688"/>
          </a:xfrm>
          <a:custGeom>
            <a:avLst/>
            <a:gdLst/>
            <a:ahLst/>
            <a:cxnLst/>
            <a:rect l="l" t="t" r="r" b="b"/>
            <a:pathLst>
              <a:path w="2121408" h="2075688">
                <a:moveTo>
                  <a:pt x="0" y="2075688"/>
                </a:moveTo>
                <a:lnTo>
                  <a:pt x="1353312" y="2075688"/>
                </a:lnTo>
                <a:lnTo>
                  <a:pt x="1353312" y="0"/>
                </a:lnTo>
                <a:lnTo>
                  <a:pt x="2121408" y="0"/>
                </a:lnTo>
              </a:path>
            </a:pathLst>
          </a:custGeom>
          <a:noFill/>
          <a:ln w="22225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75" name="arrow-8-app2-kafka"/>
          <p:cNvSpPr/>
          <p:nvPr/>
        </p:nvSpPr>
        <p:spPr>
          <a:xfrm>
            <a:off x="5468112" y="2697480"/>
            <a:ext cx="2121408" cy="1143000"/>
          </a:xfrm>
          <a:custGeom>
            <a:avLst/>
            <a:gdLst/>
            <a:ahLst/>
            <a:cxnLst/>
            <a:rect l="l" t="t" r="r" b="b"/>
            <a:pathLst>
              <a:path w="2121408" h="1143000">
                <a:moveTo>
                  <a:pt x="0" y="1143000"/>
                </a:moveTo>
                <a:lnTo>
                  <a:pt x="1499616" y="1143000"/>
                </a:lnTo>
                <a:lnTo>
                  <a:pt x="1499616" y="0"/>
                </a:lnTo>
                <a:lnTo>
                  <a:pt x="2121408" y="0"/>
                </a:lnTo>
              </a:path>
            </a:pathLst>
          </a:custGeom>
          <a:noFill/>
          <a:ln w="2222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76" name="arrow-6-app2-postgresql"/>
          <p:cNvSpPr/>
          <p:nvPr/>
        </p:nvSpPr>
        <p:spPr>
          <a:xfrm>
            <a:off x="5468112" y="4005072"/>
            <a:ext cx="3712464" cy="566928"/>
          </a:xfrm>
          <a:custGeom>
            <a:avLst/>
            <a:gdLst/>
            <a:ahLst/>
            <a:cxnLst/>
            <a:rect l="l" t="t" r="r" b="b"/>
            <a:pathLst>
              <a:path w="3712464" h="566928">
                <a:moveTo>
                  <a:pt x="0" y="0"/>
                </a:moveTo>
                <a:lnTo>
                  <a:pt x="914400" y="0"/>
                </a:lnTo>
                <a:lnTo>
                  <a:pt x="914400" y="566928"/>
                </a:lnTo>
                <a:lnTo>
                  <a:pt x="3712464" y="566928"/>
                </a:lnTo>
              </a:path>
            </a:pathLst>
          </a:custGeom>
          <a:noFill/>
          <a:ln w="2222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77" name="badge-4-app1"/>
          <p:cNvSpPr/>
          <p:nvPr/>
        </p:nvSpPr>
        <p:spPr>
          <a:xfrm>
            <a:off x="5490972" y="1229868"/>
            <a:ext cx="228600" cy="228600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badge-7-app1"/>
          <p:cNvSpPr/>
          <p:nvPr/>
        </p:nvSpPr>
        <p:spPr>
          <a:xfrm>
            <a:off x="5728716" y="1229868"/>
            <a:ext cx="228600" cy="228600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000" dirty="0"/>
          </a:p>
        </p:txBody>
      </p:sp>
      <p:sp>
        <p:nvSpPr>
          <p:cNvPr id="79" name="badge-8-app1"/>
          <p:cNvSpPr/>
          <p:nvPr/>
        </p:nvSpPr>
        <p:spPr>
          <a:xfrm>
            <a:off x="5939028" y="1394460"/>
            <a:ext cx="228600" cy="228600"/>
          </a:xfrm>
          <a:prstGeom prst="ellipse">
            <a:avLst/>
          </a:prstGeom>
          <a:solidFill>
            <a:srgbClr val="111827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000" dirty="0"/>
          </a:p>
        </p:txBody>
      </p:sp>
      <p:sp>
        <p:nvSpPr>
          <p:cNvPr id="80" name="badge-6-app1"/>
          <p:cNvSpPr/>
          <p:nvPr/>
        </p:nvSpPr>
        <p:spPr>
          <a:xfrm>
            <a:off x="6140196" y="1559052"/>
            <a:ext cx="228600" cy="228600"/>
          </a:xfrm>
          <a:prstGeom prst="ellipse">
            <a:avLst/>
          </a:prstGeom>
          <a:solidFill>
            <a:srgbClr val="7C3AE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000" dirty="0"/>
          </a:p>
        </p:txBody>
      </p:sp>
      <p:sp>
        <p:nvSpPr>
          <p:cNvPr id="81" name="badge-4-app2"/>
          <p:cNvSpPr/>
          <p:nvPr/>
        </p:nvSpPr>
        <p:spPr>
          <a:xfrm>
            <a:off x="5490972" y="3561588"/>
            <a:ext cx="228600" cy="228600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000" dirty="0"/>
          </a:p>
        </p:txBody>
      </p:sp>
      <p:sp>
        <p:nvSpPr>
          <p:cNvPr id="82" name="badge-7-app2"/>
          <p:cNvSpPr/>
          <p:nvPr/>
        </p:nvSpPr>
        <p:spPr>
          <a:xfrm>
            <a:off x="5728716" y="3561588"/>
            <a:ext cx="228600" cy="228600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000" dirty="0"/>
          </a:p>
        </p:txBody>
      </p:sp>
      <p:sp>
        <p:nvSpPr>
          <p:cNvPr id="83" name="badge-8-app2"/>
          <p:cNvSpPr/>
          <p:nvPr/>
        </p:nvSpPr>
        <p:spPr>
          <a:xfrm>
            <a:off x="5939028" y="3726180"/>
            <a:ext cx="228600" cy="228600"/>
          </a:xfrm>
          <a:prstGeom prst="ellipse">
            <a:avLst/>
          </a:prstGeom>
          <a:solidFill>
            <a:srgbClr val="111827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000" dirty="0"/>
          </a:p>
        </p:txBody>
      </p:sp>
      <p:sp>
        <p:nvSpPr>
          <p:cNvPr id="84" name="badge-6-app2"/>
          <p:cNvSpPr/>
          <p:nvPr/>
        </p:nvSpPr>
        <p:spPr>
          <a:xfrm>
            <a:off x="6140196" y="3890772"/>
            <a:ext cx="228600" cy="228600"/>
          </a:xfrm>
          <a:prstGeom prst="ellipse">
            <a:avLst/>
          </a:prstGeom>
          <a:solidFill>
            <a:srgbClr val="7C3AE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000" dirty="0"/>
          </a:p>
        </p:txBody>
      </p:sp>
      <p:sp>
        <p:nvSpPr>
          <p:cNvPr id="85" name="arrow-5-worker-redis"/>
          <p:cNvSpPr/>
          <p:nvPr/>
        </p:nvSpPr>
        <p:spPr>
          <a:xfrm flipH="1">
            <a:off x="8055864" y="1481328"/>
            <a:ext cx="1179576" cy="0"/>
          </a:xfrm>
          <a:prstGeom prst="line">
            <a:avLst/>
          </a:prstGeom>
          <a:noFill/>
          <a:ln w="22225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86" name="badge-5"/>
          <p:cNvSpPr/>
          <p:nvPr/>
        </p:nvSpPr>
        <p:spPr>
          <a:xfrm>
            <a:off x="8526780" y="1367028"/>
            <a:ext cx="228600" cy="228600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000" dirty="0"/>
          </a:p>
        </p:txBody>
      </p:sp>
      <p:sp>
        <p:nvSpPr>
          <p:cNvPr id="87" name="arrow-9-kafka-consumer"/>
          <p:cNvSpPr/>
          <p:nvPr/>
        </p:nvSpPr>
        <p:spPr>
          <a:xfrm>
            <a:off x="8055864" y="2578608"/>
            <a:ext cx="1179576" cy="0"/>
          </a:xfrm>
          <a:prstGeom prst="line">
            <a:avLst/>
          </a:prstGeom>
          <a:noFill/>
          <a:ln w="2222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88" name="badge-9"/>
          <p:cNvSpPr/>
          <p:nvPr/>
        </p:nvSpPr>
        <p:spPr>
          <a:xfrm>
            <a:off x="8526780" y="2464308"/>
            <a:ext cx="228600" cy="228600"/>
          </a:xfrm>
          <a:prstGeom prst="ellipse">
            <a:avLst/>
          </a:prstGeom>
          <a:solidFill>
            <a:srgbClr val="111827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000" dirty="0"/>
          </a:p>
        </p:txBody>
      </p:sp>
      <p:sp>
        <p:nvSpPr>
          <p:cNvPr id="89" name="arrow-10-consumer-postgresql"/>
          <p:cNvSpPr/>
          <p:nvPr/>
        </p:nvSpPr>
        <p:spPr>
          <a:xfrm>
            <a:off x="9464040" y="3273552"/>
            <a:ext cx="0" cy="905256"/>
          </a:xfrm>
          <a:prstGeom prst="line">
            <a:avLst/>
          </a:prstGeom>
          <a:noFill/>
          <a:ln w="2222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90" name="badge-10"/>
          <p:cNvSpPr/>
          <p:nvPr/>
        </p:nvSpPr>
        <p:spPr>
          <a:xfrm>
            <a:off x="9349740" y="3634740"/>
            <a:ext cx="228600" cy="228600"/>
          </a:xfrm>
          <a:prstGeom prst="ellipse">
            <a:avLst/>
          </a:prstGeom>
          <a:solidFill>
            <a:srgbClr val="7C3AE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000" dirty="0"/>
          </a:p>
        </p:txBody>
      </p:sp>
      <p:sp>
        <p:nvSpPr>
          <p:cNvPr id="91" name="arrow-11-prometheus-scrape"/>
          <p:cNvSpPr/>
          <p:nvPr/>
        </p:nvSpPr>
        <p:spPr>
          <a:xfrm>
            <a:off x="2743200" y="749808"/>
            <a:ext cx="9006840" cy="704088"/>
          </a:xfrm>
          <a:custGeom>
            <a:avLst/>
            <a:gdLst/>
            <a:ahLst/>
            <a:cxnLst/>
            <a:rect l="l" t="t" r="r" b="b"/>
            <a:pathLst>
              <a:path w="9006840" h="704088">
                <a:moveTo>
                  <a:pt x="8668512" y="704088"/>
                </a:moveTo>
                <a:lnTo>
                  <a:pt x="9006840" y="704088"/>
                </a:lnTo>
                <a:lnTo>
                  <a:pt x="9006840" y="0"/>
                </a:lnTo>
                <a:lnTo>
                  <a:pt x="0" y="0"/>
                </a:lnTo>
                <a:lnTo>
                  <a:pt x="0" y="685800"/>
                </a:lnTo>
              </a:path>
            </a:pathLst>
          </a:custGeom>
          <a:noFill/>
          <a:ln w="22225">
            <a:solidFill>
              <a:srgbClr val="94A3B8"/>
            </a:solidFill>
            <a:prstDash val="dash"/>
            <a:tailEnd type="triangle"/>
          </a:ln>
        </p:spPr>
      </p:sp>
      <p:sp>
        <p:nvSpPr>
          <p:cNvPr id="92" name="badge-11"/>
          <p:cNvSpPr/>
          <p:nvPr/>
        </p:nvSpPr>
        <p:spPr>
          <a:xfrm>
            <a:off x="8526780" y="635508"/>
            <a:ext cx="228600" cy="228600"/>
          </a:xfrm>
          <a:prstGeom prst="ellipse">
            <a:avLst/>
          </a:prstGeom>
          <a:solidFill>
            <a:srgbClr val="94A3B8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000" dirty="0"/>
          </a:p>
        </p:txBody>
      </p:sp>
      <p:sp>
        <p:nvSpPr>
          <p:cNvPr id="93" name="legend-box"/>
          <p:cNvSpPr/>
          <p:nvPr/>
        </p:nvSpPr>
        <p:spPr>
          <a:xfrm>
            <a:off x="274320" y="5349240"/>
            <a:ext cx="11640312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legend-badge-1"/>
          <p:cNvSpPr/>
          <p:nvPr/>
        </p:nvSpPr>
        <p:spPr>
          <a:xfrm>
            <a:off x="406908" y="5445252"/>
            <a:ext cx="192024" cy="192024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00" dirty="0"/>
          </a:p>
        </p:txBody>
      </p:sp>
      <p:sp>
        <p:nvSpPr>
          <p:cNvPr id="95" name="legend-text-1"/>
          <p:cNvSpPr txBox="1"/>
          <p:nvPr/>
        </p:nvSpPr>
        <p:spPr>
          <a:xfrm>
            <a:off x="685800" y="544068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 → nginx: React 화면 파일 받기, REST/JSON 요청 (토큰)</a:t>
            </a:r>
            <a:endParaRPr lang="en-US" sz="1000" dirty="0"/>
          </a:p>
        </p:txBody>
      </p:sp>
      <p:sp>
        <p:nvSpPr>
          <p:cNvPr id="96" name="legend-badge-2"/>
          <p:cNvSpPr/>
          <p:nvPr/>
        </p:nvSpPr>
        <p:spPr>
          <a:xfrm>
            <a:off x="406908" y="5651906"/>
            <a:ext cx="192024" cy="192024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000" dirty="0"/>
          </a:p>
        </p:txBody>
      </p:sp>
      <p:sp>
        <p:nvSpPr>
          <p:cNvPr id="97" name="legend-text-2"/>
          <p:cNvSpPr txBox="1"/>
          <p:nvPr/>
        </p:nvSpPr>
        <p:spPr>
          <a:xfrm>
            <a:off x="685800" y="564733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nginx → Envoy: /api 떼고 전달</a:t>
            </a:r>
            <a:endParaRPr lang="en-US" sz="1000" dirty="0"/>
          </a:p>
        </p:txBody>
      </p:sp>
      <p:sp>
        <p:nvSpPr>
          <p:cNvPr id="98" name="legend-badge-3"/>
          <p:cNvSpPr/>
          <p:nvPr/>
        </p:nvSpPr>
        <p:spPr>
          <a:xfrm>
            <a:off x="406908" y="5858561"/>
            <a:ext cx="192024" cy="192024"/>
          </a:xfrm>
          <a:prstGeom prst="ellipse">
            <a:avLst/>
          </a:prstGeom>
          <a:solidFill>
            <a:srgbClr val="16A34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000" dirty="0"/>
          </a:p>
        </p:txBody>
      </p:sp>
      <p:sp>
        <p:nvSpPr>
          <p:cNvPr id="99" name="legend-text-3"/>
          <p:cNvSpPr txBox="1"/>
          <p:nvPr/>
        </p:nvSpPr>
        <p:spPr>
          <a:xfrm>
            <a:off x="685800" y="5853989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Envoy → 서버 2대: gRPC 라운드로빈</a:t>
            </a:r>
            <a:endParaRPr lang="en-US" sz="1000" dirty="0"/>
          </a:p>
        </p:txBody>
      </p:sp>
      <p:sp>
        <p:nvSpPr>
          <p:cNvPr id="100" name="legend-badge-4"/>
          <p:cNvSpPr/>
          <p:nvPr/>
        </p:nvSpPr>
        <p:spPr>
          <a:xfrm>
            <a:off x="406908" y="6065215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000" dirty="0"/>
          </a:p>
        </p:txBody>
      </p:sp>
      <p:sp>
        <p:nvSpPr>
          <p:cNvPr id="101" name="legend-text-4"/>
          <p:cNvSpPr txBox="1"/>
          <p:nvPr/>
        </p:nvSpPr>
        <p:spPr>
          <a:xfrm>
            <a:off x="685800" y="6060643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 → Redis: 대기열 진입, 순번 조회</a:t>
            </a:r>
            <a:endParaRPr lang="en-US" sz="1000" dirty="0"/>
          </a:p>
        </p:txBody>
      </p:sp>
      <p:sp>
        <p:nvSpPr>
          <p:cNvPr id="102" name="legend-badge-5"/>
          <p:cNvSpPr/>
          <p:nvPr/>
        </p:nvSpPr>
        <p:spPr>
          <a:xfrm>
            <a:off x="406908" y="6271870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000" dirty="0"/>
          </a:p>
        </p:txBody>
      </p:sp>
      <p:sp>
        <p:nvSpPr>
          <p:cNvPr id="103" name="legend-text-5"/>
          <p:cNvSpPr txBox="1"/>
          <p:nvPr/>
        </p:nvSpPr>
        <p:spPr>
          <a:xfrm>
            <a:off x="685800" y="626729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queue-worker → Redis: 빈자리만큼 입장권 발급</a:t>
            </a:r>
            <a:endParaRPr lang="en-US" sz="1000" dirty="0"/>
          </a:p>
        </p:txBody>
      </p:sp>
      <p:sp>
        <p:nvSpPr>
          <p:cNvPr id="104" name="legend-badge-6"/>
          <p:cNvSpPr/>
          <p:nvPr/>
        </p:nvSpPr>
        <p:spPr>
          <a:xfrm>
            <a:off x="406908" y="6478524"/>
            <a:ext cx="192024" cy="192024"/>
          </a:xfrm>
          <a:prstGeom prst="ellipse">
            <a:avLst/>
          </a:prstGeom>
          <a:solidFill>
            <a:srgbClr val="7C3AE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000" dirty="0"/>
          </a:p>
        </p:txBody>
      </p:sp>
      <p:sp>
        <p:nvSpPr>
          <p:cNvPr id="105" name="legend-text-6"/>
          <p:cNvSpPr txBox="1"/>
          <p:nvPr/>
        </p:nvSpPr>
        <p:spPr>
          <a:xfrm>
            <a:off x="685800" y="647395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 → PostgreSQL: 로그인, 관리, 선수과목 조회 (JDBC)</a:t>
            </a:r>
            <a:endParaRPr lang="en-US" sz="1000" dirty="0"/>
          </a:p>
        </p:txBody>
      </p:sp>
      <p:sp>
        <p:nvSpPr>
          <p:cNvPr id="106" name="legend-badge-7"/>
          <p:cNvSpPr/>
          <p:nvPr/>
        </p:nvSpPr>
        <p:spPr>
          <a:xfrm>
            <a:off x="6213348" y="5445252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000" dirty="0"/>
          </a:p>
        </p:txBody>
      </p:sp>
      <p:sp>
        <p:nvSpPr>
          <p:cNvPr id="107" name="legend-text-7"/>
          <p:cNvSpPr txBox="1"/>
          <p:nvPr/>
        </p:nvSpPr>
        <p:spPr>
          <a:xfrm>
            <a:off x="6492240" y="544068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 → Redis: 입장권 확인, 자리 차감(Lua)</a:t>
            </a:r>
            <a:endParaRPr lang="en-US" sz="1000" dirty="0"/>
          </a:p>
        </p:txBody>
      </p:sp>
      <p:sp>
        <p:nvSpPr>
          <p:cNvPr id="108" name="legend-badge-8"/>
          <p:cNvSpPr/>
          <p:nvPr/>
        </p:nvSpPr>
        <p:spPr>
          <a:xfrm>
            <a:off x="6213348" y="5651906"/>
            <a:ext cx="192024" cy="192024"/>
          </a:xfrm>
          <a:prstGeom prst="ellipse">
            <a:avLst/>
          </a:prstGeom>
          <a:solidFill>
            <a:srgbClr val="111827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000" dirty="0"/>
          </a:p>
        </p:txBody>
      </p:sp>
      <p:sp>
        <p:nvSpPr>
          <p:cNvPr id="109" name="legend-text-8"/>
          <p:cNvSpPr txBox="1"/>
          <p:nvPr/>
        </p:nvSpPr>
        <p:spPr>
          <a:xfrm>
            <a:off x="6492240" y="564733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 → Kafka: 신청/취소 이벤트 (저장 확인 후 응답)</a:t>
            </a:r>
            <a:endParaRPr lang="en-US" sz="1000" dirty="0"/>
          </a:p>
        </p:txBody>
      </p:sp>
      <p:sp>
        <p:nvSpPr>
          <p:cNvPr id="110" name="legend-badge-9"/>
          <p:cNvSpPr/>
          <p:nvPr/>
        </p:nvSpPr>
        <p:spPr>
          <a:xfrm>
            <a:off x="6213348" y="5858561"/>
            <a:ext cx="192024" cy="192024"/>
          </a:xfrm>
          <a:prstGeom prst="ellipse">
            <a:avLst/>
          </a:prstGeom>
          <a:solidFill>
            <a:srgbClr val="111827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000" dirty="0"/>
          </a:p>
        </p:txBody>
      </p:sp>
      <p:sp>
        <p:nvSpPr>
          <p:cNvPr id="111" name="legend-text-9"/>
          <p:cNvSpPr txBox="1"/>
          <p:nvPr/>
        </p:nvSpPr>
        <p:spPr>
          <a:xfrm>
            <a:off x="6492240" y="5853989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Kafka → enrollment-consumer: 이벤트 전달</a:t>
            </a:r>
            <a:endParaRPr lang="en-US" sz="1000" dirty="0"/>
          </a:p>
        </p:txBody>
      </p:sp>
      <p:sp>
        <p:nvSpPr>
          <p:cNvPr id="112" name="legend-badge-10"/>
          <p:cNvSpPr/>
          <p:nvPr/>
        </p:nvSpPr>
        <p:spPr>
          <a:xfrm>
            <a:off x="6213348" y="6065215"/>
            <a:ext cx="192024" cy="192024"/>
          </a:xfrm>
          <a:prstGeom prst="ellipse">
            <a:avLst/>
          </a:prstGeom>
          <a:solidFill>
            <a:srgbClr val="7C3AE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000" dirty="0"/>
          </a:p>
        </p:txBody>
      </p:sp>
      <p:sp>
        <p:nvSpPr>
          <p:cNvPr id="113" name="legend-text-10"/>
          <p:cNvSpPr txBox="1"/>
          <p:nvPr/>
        </p:nvSpPr>
        <p:spPr>
          <a:xfrm>
            <a:off x="6492240" y="6060643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enrollment-consumer → PostgreSQL: 멱등 저장 (ON CONFLICT)</a:t>
            </a:r>
            <a:endParaRPr lang="en-US" sz="1000" dirty="0"/>
          </a:p>
        </p:txBody>
      </p:sp>
      <p:sp>
        <p:nvSpPr>
          <p:cNvPr id="114" name="legend-badge-11"/>
          <p:cNvSpPr/>
          <p:nvPr/>
        </p:nvSpPr>
        <p:spPr>
          <a:xfrm>
            <a:off x="6213348" y="6271870"/>
            <a:ext cx="192024" cy="192024"/>
          </a:xfrm>
          <a:prstGeom prst="ellipse">
            <a:avLst/>
          </a:prstGeom>
          <a:solidFill>
            <a:srgbClr val="94A3B8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000" dirty="0"/>
          </a:p>
        </p:txBody>
      </p:sp>
      <p:sp>
        <p:nvSpPr>
          <p:cNvPr id="115" name="legend-text-11"/>
          <p:cNvSpPr txBox="1"/>
          <p:nvPr/>
        </p:nvSpPr>
        <p:spPr>
          <a:xfrm>
            <a:off x="6492240" y="626729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Prometheus: Envoy, nginx, DB, Redis 지표 수집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743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대기열 진입 → 입장</a:t>
            </a:r>
            <a:endParaRPr lang="en-US" sz="2200" dirty="0"/>
          </a:p>
        </p:txBody>
      </p:sp>
      <p:sp>
        <p:nvSpPr>
          <p:cNvPr id="3" name="lifeline-B"/>
          <p:cNvSpPr/>
          <p:nvPr/>
        </p:nvSpPr>
        <p:spPr>
          <a:xfrm>
            <a:off x="914400" y="1280160"/>
            <a:ext cx="0" cy="503834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" name="participant-B"/>
          <p:cNvSpPr/>
          <p:nvPr/>
        </p:nvSpPr>
        <p:spPr>
          <a:xfrm>
            <a:off x="365760" y="8686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</a:t>
            </a:r>
            <a:endParaRPr lang="en-US" sz="1100" dirty="0"/>
          </a:p>
        </p:txBody>
      </p:sp>
      <p:sp>
        <p:nvSpPr>
          <p:cNvPr id="5" name="lifeline-E"/>
          <p:cNvSpPr/>
          <p:nvPr/>
        </p:nvSpPr>
        <p:spPr>
          <a:xfrm>
            <a:off x="3017520" y="1280160"/>
            <a:ext cx="0" cy="503834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participant-E"/>
          <p:cNvSpPr/>
          <p:nvPr/>
        </p:nvSpPr>
        <p:spPr>
          <a:xfrm>
            <a:off x="2468880" y="8686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Envoy</a:t>
            </a:r>
            <a:endParaRPr lang="en-US" sz="1100" dirty="0"/>
          </a:p>
        </p:txBody>
      </p:sp>
      <p:sp>
        <p:nvSpPr>
          <p:cNvPr id="7" name="lifeline-S"/>
          <p:cNvSpPr/>
          <p:nvPr/>
        </p:nvSpPr>
        <p:spPr>
          <a:xfrm>
            <a:off x="5303520" y="1280160"/>
            <a:ext cx="0" cy="503834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participant-S"/>
          <p:cNvSpPr/>
          <p:nvPr/>
        </p:nvSpPr>
        <p:spPr>
          <a:xfrm>
            <a:off x="4343400" y="86868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gRPC 서버 (app1/app2)</a:t>
            </a:r>
            <a:endParaRPr lang="en-US" sz="1100" dirty="0"/>
          </a:p>
        </p:txBody>
      </p:sp>
      <p:sp>
        <p:nvSpPr>
          <p:cNvPr id="9" name="lifeline-R"/>
          <p:cNvSpPr/>
          <p:nvPr/>
        </p:nvSpPr>
        <p:spPr>
          <a:xfrm>
            <a:off x="7863840" y="1280160"/>
            <a:ext cx="0" cy="503834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participant-R"/>
          <p:cNvSpPr/>
          <p:nvPr/>
        </p:nvSpPr>
        <p:spPr>
          <a:xfrm>
            <a:off x="7315200" y="8686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Redis</a:t>
            </a:r>
            <a:endParaRPr lang="en-US" sz="1100" dirty="0"/>
          </a:p>
        </p:txBody>
      </p:sp>
      <p:sp>
        <p:nvSpPr>
          <p:cNvPr id="11" name="lifeline-W"/>
          <p:cNvSpPr/>
          <p:nvPr/>
        </p:nvSpPr>
        <p:spPr>
          <a:xfrm>
            <a:off x="10789920" y="1280160"/>
            <a:ext cx="0" cy="503834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participant-W"/>
          <p:cNvSpPr/>
          <p:nvPr/>
        </p:nvSpPr>
        <p:spPr>
          <a:xfrm>
            <a:off x="10058400" y="8686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queue-worker</a:t>
            </a:r>
            <a:endParaRPr lang="en-US" sz="1100" dirty="0"/>
          </a:p>
        </p:txBody>
      </p:sp>
      <p:sp>
        <p:nvSpPr>
          <p:cNvPr id="13" name="queue-loop-1"/>
          <p:cNvSpPr/>
          <p:nvPr/>
        </p:nvSpPr>
        <p:spPr>
          <a:xfrm>
            <a:off x="7315200" y="2724912"/>
            <a:ext cx="4343400" cy="1316736"/>
          </a:xfrm>
          <a:prstGeom prst="rect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queue-loop-1-tag"/>
          <p:cNvSpPr/>
          <p:nvPr/>
        </p:nvSpPr>
        <p:spPr>
          <a:xfrm>
            <a:off x="7315200" y="2724912"/>
            <a:ext cx="4572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loop</a:t>
            </a:r>
            <a:endParaRPr lang="en-US" sz="1000" dirty="0"/>
          </a:p>
        </p:txBody>
      </p:sp>
      <p:sp>
        <p:nvSpPr>
          <p:cNvPr id="15" name="queue-loop-1-condition"/>
          <p:cNvSpPr txBox="1"/>
          <p:nvPr/>
        </p:nvSpPr>
        <p:spPr>
          <a:xfrm>
            <a:off x="7863840" y="2724912"/>
            <a:ext cx="92075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[0.5초마다]</a:t>
            </a:r>
            <a:endParaRPr lang="en-US" sz="1000" dirty="0"/>
          </a:p>
        </p:txBody>
      </p:sp>
      <p:sp>
        <p:nvSpPr>
          <p:cNvPr id="16" name="queue-loop-2"/>
          <p:cNvSpPr/>
          <p:nvPr/>
        </p:nvSpPr>
        <p:spPr>
          <a:xfrm>
            <a:off x="457200" y="4169664"/>
            <a:ext cx="7955280" cy="1627632"/>
          </a:xfrm>
          <a:prstGeom prst="rect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queue-loop-2-tag"/>
          <p:cNvSpPr/>
          <p:nvPr/>
        </p:nvSpPr>
        <p:spPr>
          <a:xfrm>
            <a:off x="457200" y="4169664"/>
            <a:ext cx="4572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loop</a:t>
            </a:r>
            <a:endParaRPr lang="en-US" sz="1000" dirty="0"/>
          </a:p>
        </p:txBody>
      </p:sp>
      <p:sp>
        <p:nvSpPr>
          <p:cNvPr id="18" name="queue-loop-2-condition"/>
          <p:cNvSpPr txBox="1"/>
          <p:nvPr/>
        </p:nvSpPr>
        <p:spPr>
          <a:xfrm>
            <a:off x="1005840" y="4169664"/>
            <a:ext cx="79883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[2초마다]</a:t>
            </a:r>
            <a:endParaRPr lang="en-US" sz="1000" dirty="0"/>
          </a:p>
        </p:txBody>
      </p:sp>
      <p:sp>
        <p:nvSpPr>
          <p:cNvPr id="19" name="queue-msg-1"/>
          <p:cNvSpPr/>
          <p:nvPr/>
        </p:nvSpPr>
        <p:spPr>
          <a:xfrm>
            <a:off x="914400" y="1645920"/>
            <a:ext cx="208483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queue-msg-1-label"/>
          <p:cNvSpPr txBox="1"/>
          <p:nvPr/>
        </p:nvSpPr>
        <p:spPr>
          <a:xfrm>
            <a:off x="1126426" y="1371600"/>
            <a:ext cx="1679067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/api/queue (토큰)</a:t>
            </a:r>
            <a:endParaRPr lang="en-US" sz="1050" dirty="0"/>
          </a:p>
        </p:txBody>
      </p:sp>
      <p:sp>
        <p:nvSpPr>
          <p:cNvPr id="21" name="queue-msg-2"/>
          <p:cNvSpPr/>
          <p:nvPr/>
        </p:nvSpPr>
        <p:spPr>
          <a:xfrm>
            <a:off x="3017520" y="1956816"/>
            <a:ext cx="22677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2" name="queue-msg-2-label"/>
          <p:cNvSpPr txBox="1"/>
          <p:nvPr/>
        </p:nvSpPr>
        <p:spPr>
          <a:xfrm>
            <a:off x="3439668" y="1682496"/>
            <a:ext cx="1441704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EnterQueue (gRPC)</a:t>
            </a:r>
            <a:endParaRPr lang="en-US" sz="1050" dirty="0"/>
          </a:p>
        </p:txBody>
      </p:sp>
      <p:sp>
        <p:nvSpPr>
          <p:cNvPr id="23" name="queue-msg-3"/>
          <p:cNvSpPr/>
          <p:nvPr/>
        </p:nvSpPr>
        <p:spPr>
          <a:xfrm>
            <a:off x="5303520" y="2267712"/>
            <a:ext cx="2542032" cy="0"/>
          </a:xfrm>
          <a:prstGeom prst="line">
            <a:avLst/>
          </a:prstGeom>
          <a:noFill/>
          <a:ln w="1905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24" name="queue-msg-3-label"/>
          <p:cNvSpPr txBox="1"/>
          <p:nvPr/>
        </p:nvSpPr>
        <p:spPr>
          <a:xfrm>
            <a:off x="5581460" y="1993392"/>
            <a:ext cx="2004441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ZADD queue NX 학번 진입시각</a:t>
            </a:r>
            <a:endParaRPr lang="en-US" sz="1050" dirty="0"/>
          </a:p>
        </p:txBody>
      </p:sp>
      <p:sp>
        <p:nvSpPr>
          <p:cNvPr id="25" name="queue-msg-4"/>
          <p:cNvSpPr/>
          <p:nvPr/>
        </p:nvSpPr>
        <p:spPr>
          <a:xfrm flipH="1">
            <a:off x="932688" y="2578608"/>
            <a:ext cx="43708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6" name="queue-msg-4-label"/>
          <p:cNvSpPr txBox="1"/>
          <p:nvPr/>
        </p:nvSpPr>
        <p:spPr>
          <a:xfrm>
            <a:off x="2118074" y="2304288"/>
            <a:ext cx="1981771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"앞에 120명, 2초 뒤 다시 조회"</a:t>
            </a:r>
            <a:endParaRPr lang="en-US" sz="1050" dirty="0"/>
          </a:p>
        </p:txBody>
      </p:sp>
      <p:sp>
        <p:nvSpPr>
          <p:cNvPr id="27" name="queue-msg-5"/>
          <p:cNvSpPr/>
          <p:nvPr/>
        </p:nvSpPr>
        <p:spPr>
          <a:xfrm flipH="1">
            <a:off x="7882128" y="3291840"/>
            <a:ext cx="2907792" cy="0"/>
          </a:xfrm>
          <a:prstGeom prst="line">
            <a:avLst/>
          </a:prstGeom>
          <a:noFill/>
          <a:ln w="1905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28" name="queue-msg-5-label"/>
          <p:cNvSpPr txBox="1"/>
          <p:nvPr/>
        </p:nvSpPr>
        <p:spPr>
          <a:xfrm>
            <a:off x="8688705" y="3017520"/>
            <a:ext cx="127635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만료된 입장권 정리</a:t>
            </a:r>
            <a:endParaRPr lang="en-US" sz="1050" dirty="0"/>
          </a:p>
        </p:txBody>
      </p:sp>
      <p:sp>
        <p:nvSpPr>
          <p:cNvPr id="29" name="queue-msg-6"/>
          <p:cNvSpPr/>
          <p:nvPr/>
        </p:nvSpPr>
        <p:spPr>
          <a:xfrm flipH="1">
            <a:off x="7882128" y="3602736"/>
            <a:ext cx="2907792" cy="0"/>
          </a:xfrm>
          <a:prstGeom prst="line">
            <a:avLst/>
          </a:prstGeom>
          <a:noFill/>
          <a:ln w="1905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30" name="queue-msg-6-label"/>
          <p:cNvSpPr txBox="1"/>
          <p:nvPr/>
        </p:nvSpPr>
        <p:spPr>
          <a:xfrm>
            <a:off x="8512016" y="3328416"/>
            <a:ext cx="1629727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빈자리 = 한도 - 입장 인원</a:t>
            </a:r>
            <a:endParaRPr lang="en-US" sz="1050" dirty="0"/>
          </a:p>
        </p:txBody>
      </p:sp>
      <p:sp>
        <p:nvSpPr>
          <p:cNvPr id="31" name="queue-msg-7"/>
          <p:cNvSpPr/>
          <p:nvPr/>
        </p:nvSpPr>
        <p:spPr>
          <a:xfrm flipH="1">
            <a:off x="7882128" y="3913632"/>
            <a:ext cx="2907792" cy="0"/>
          </a:xfrm>
          <a:prstGeom prst="line">
            <a:avLst/>
          </a:prstGeom>
          <a:noFill/>
          <a:ln w="1905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32" name="queue-msg-7-label"/>
          <p:cNvSpPr txBox="1"/>
          <p:nvPr/>
        </p:nvSpPr>
        <p:spPr>
          <a:xfrm>
            <a:off x="8028432" y="3639312"/>
            <a:ext cx="306724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ZPOPMIN queue 빈자리만큼 → 입장권 발급(5분)</a:t>
            </a:r>
            <a:endParaRPr lang="en-US" sz="1050" dirty="0"/>
          </a:p>
        </p:txBody>
      </p:sp>
      <p:sp>
        <p:nvSpPr>
          <p:cNvPr id="33" name="queue-msg-8"/>
          <p:cNvSpPr/>
          <p:nvPr/>
        </p:nvSpPr>
        <p:spPr>
          <a:xfrm>
            <a:off x="914400" y="4736592"/>
            <a:ext cx="208483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4" name="queue-msg-8-label"/>
          <p:cNvSpPr txBox="1"/>
          <p:nvPr/>
        </p:nvSpPr>
        <p:spPr>
          <a:xfrm>
            <a:off x="1370457" y="4462272"/>
            <a:ext cx="119100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/api/queue</a:t>
            </a:r>
            <a:endParaRPr lang="en-US" sz="1050" dirty="0"/>
          </a:p>
        </p:txBody>
      </p:sp>
      <p:sp>
        <p:nvSpPr>
          <p:cNvPr id="35" name="queue-msg-9"/>
          <p:cNvSpPr/>
          <p:nvPr/>
        </p:nvSpPr>
        <p:spPr>
          <a:xfrm>
            <a:off x="3017520" y="5047488"/>
            <a:ext cx="22677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6" name="queue-msg-9-label"/>
          <p:cNvSpPr txBox="1"/>
          <p:nvPr/>
        </p:nvSpPr>
        <p:spPr>
          <a:xfrm>
            <a:off x="3526345" y="4773168"/>
            <a:ext cx="1268349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GetQueueStatus</a:t>
            </a:r>
            <a:endParaRPr lang="en-US" sz="1050" dirty="0"/>
          </a:p>
        </p:txBody>
      </p:sp>
      <p:sp>
        <p:nvSpPr>
          <p:cNvPr id="37" name="queue-msg-10"/>
          <p:cNvSpPr/>
          <p:nvPr/>
        </p:nvSpPr>
        <p:spPr>
          <a:xfrm>
            <a:off x="5303520" y="5358384"/>
            <a:ext cx="2542032" cy="0"/>
          </a:xfrm>
          <a:prstGeom prst="line">
            <a:avLst/>
          </a:prstGeom>
          <a:noFill/>
          <a:ln w="1905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38" name="queue-msg-10-label"/>
          <p:cNvSpPr txBox="1"/>
          <p:nvPr/>
        </p:nvSpPr>
        <p:spPr>
          <a:xfrm>
            <a:off x="5678805" y="5084064"/>
            <a:ext cx="180975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입장권 있어? 없으면 ZRANK</a:t>
            </a:r>
            <a:endParaRPr lang="en-US" sz="1050" dirty="0"/>
          </a:p>
        </p:txBody>
      </p:sp>
      <p:sp>
        <p:nvSpPr>
          <p:cNvPr id="39" name="queue-msg-11"/>
          <p:cNvSpPr/>
          <p:nvPr/>
        </p:nvSpPr>
        <p:spPr>
          <a:xfrm flipH="1">
            <a:off x="932688" y="5669280"/>
            <a:ext cx="43708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40" name="queue-msg-11-label"/>
          <p:cNvSpPr txBox="1"/>
          <p:nvPr/>
        </p:nvSpPr>
        <p:spPr>
          <a:xfrm>
            <a:off x="2363438" y="5394960"/>
            <a:ext cx="1491044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"앞에 N명" 또는 "입장"</a:t>
            </a:r>
            <a:endParaRPr lang="en-US" sz="1050" dirty="0"/>
          </a:p>
        </p:txBody>
      </p:sp>
      <p:sp>
        <p:nvSpPr>
          <p:cNvPr id="41" name="queue-msg-12"/>
          <p:cNvSpPr/>
          <p:nvPr/>
        </p:nvSpPr>
        <p:spPr>
          <a:xfrm>
            <a:off x="914400" y="6016752"/>
            <a:ext cx="365760" cy="201168"/>
          </a:xfrm>
          <a:custGeom>
            <a:avLst/>
            <a:gdLst/>
            <a:ahLst/>
            <a:cxnLst/>
            <a:rect l="l" t="t" r="r" b="b"/>
            <a:pathLst>
              <a:path w="365760" h="201168">
                <a:moveTo>
                  <a:pt x="0" y="0"/>
                </a:moveTo>
                <a:lnTo>
                  <a:pt x="365760" y="0"/>
                </a:lnTo>
                <a:lnTo>
                  <a:pt x="365760" y="201168"/>
                </a:lnTo>
                <a:lnTo>
                  <a:pt x="27432" y="201168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2" name="queue-msg-12-label"/>
          <p:cNvSpPr txBox="1"/>
          <p:nvPr/>
        </p:nvSpPr>
        <p:spPr>
          <a:xfrm>
            <a:off x="1371600" y="6016752"/>
            <a:ext cx="16211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수강신청 화면으로 이동</a:t>
            </a:r>
            <a:endParaRPr lang="en-US" sz="1050" dirty="0"/>
          </a:p>
        </p:txBody>
      </p:sp>
      <p:sp>
        <p:nvSpPr>
          <p:cNvPr id="43" name="queue-msg-1-badge"/>
          <p:cNvSpPr/>
          <p:nvPr/>
        </p:nvSpPr>
        <p:spPr>
          <a:xfrm>
            <a:off x="818388" y="1549908"/>
            <a:ext cx="192024" cy="192024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queue-msg-2-badge"/>
          <p:cNvSpPr/>
          <p:nvPr/>
        </p:nvSpPr>
        <p:spPr>
          <a:xfrm>
            <a:off x="2921508" y="1860804"/>
            <a:ext cx="192024" cy="192024"/>
          </a:xfrm>
          <a:prstGeom prst="ellipse">
            <a:avLst/>
          </a:prstGeom>
          <a:solidFill>
            <a:srgbClr val="16A34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queue-msg-3-badge"/>
          <p:cNvSpPr/>
          <p:nvPr/>
        </p:nvSpPr>
        <p:spPr>
          <a:xfrm>
            <a:off x="5207508" y="2171700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queue-msg-4-badge"/>
          <p:cNvSpPr/>
          <p:nvPr/>
        </p:nvSpPr>
        <p:spPr>
          <a:xfrm>
            <a:off x="5207508" y="2482596"/>
            <a:ext cx="192024" cy="192024"/>
          </a:xfrm>
          <a:prstGeom prst="ellipse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queue-msg-5-badge"/>
          <p:cNvSpPr/>
          <p:nvPr/>
        </p:nvSpPr>
        <p:spPr>
          <a:xfrm>
            <a:off x="10693908" y="3195828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queue-msg-6-badge"/>
          <p:cNvSpPr/>
          <p:nvPr/>
        </p:nvSpPr>
        <p:spPr>
          <a:xfrm>
            <a:off x="10693908" y="3506724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queue-msg-7-badge"/>
          <p:cNvSpPr/>
          <p:nvPr/>
        </p:nvSpPr>
        <p:spPr>
          <a:xfrm>
            <a:off x="10693908" y="3817620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queue-msg-8-badge"/>
          <p:cNvSpPr/>
          <p:nvPr/>
        </p:nvSpPr>
        <p:spPr>
          <a:xfrm>
            <a:off x="818388" y="4640580"/>
            <a:ext cx="192024" cy="192024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000" dirty="0"/>
          </a:p>
        </p:txBody>
      </p:sp>
      <p:sp>
        <p:nvSpPr>
          <p:cNvPr id="51" name="queue-msg-9-badge"/>
          <p:cNvSpPr/>
          <p:nvPr/>
        </p:nvSpPr>
        <p:spPr>
          <a:xfrm>
            <a:off x="2921508" y="4951476"/>
            <a:ext cx="192024" cy="192024"/>
          </a:xfrm>
          <a:prstGeom prst="ellipse">
            <a:avLst/>
          </a:prstGeom>
          <a:solidFill>
            <a:srgbClr val="16A34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000" dirty="0"/>
          </a:p>
        </p:txBody>
      </p:sp>
      <p:sp>
        <p:nvSpPr>
          <p:cNvPr id="52" name="queue-msg-10-badge"/>
          <p:cNvSpPr/>
          <p:nvPr/>
        </p:nvSpPr>
        <p:spPr>
          <a:xfrm>
            <a:off x="5207508" y="5262372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queue-msg-11-badge"/>
          <p:cNvSpPr/>
          <p:nvPr/>
        </p:nvSpPr>
        <p:spPr>
          <a:xfrm>
            <a:off x="5207508" y="5573268"/>
            <a:ext cx="192024" cy="192024"/>
          </a:xfrm>
          <a:prstGeom prst="ellipse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000" dirty="0"/>
          </a:p>
        </p:txBody>
      </p:sp>
      <p:sp>
        <p:nvSpPr>
          <p:cNvPr id="54" name="queue-msg-12-badge"/>
          <p:cNvSpPr/>
          <p:nvPr/>
        </p:nvSpPr>
        <p:spPr>
          <a:xfrm>
            <a:off x="818388" y="5920740"/>
            <a:ext cx="192024" cy="192024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743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수강신청 처리</a:t>
            </a:r>
            <a:endParaRPr lang="en-US" sz="2200" dirty="0"/>
          </a:p>
        </p:txBody>
      </p:sp>
      <p:sp>
        <p:nvSpPr>
          <p:cNvPr id="3" name="lifeline-B"/>
          <p:cNvSpPr/>
          <p:nvPr/>
        </p:nvSpPr>
        <p:spPr>
          <a:xfrm>
            <a:off x="822960" y="1280160"/>
            <a:ext cx="0" cy="53309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" name="participant-B"/>
          <p:cNvSpPr/>
          <p:nvPr/>
        </p:nvSpPr>
        <p:spPr>
          <a:xfrm>
            <a:off x="274320" y="8686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</a:t>
            </a:r>
            <a:endParaRPr lang="en-US" sz="1100" dirty="0"/>
          </a:p>
        </p:txBody>
      </p:sp>
      <p:sp>
        <p:nvSpPr>
          <p:cNvPr id="5" name="lifeline-S"/>
          <p:cNvSpPr/>
          <p:nvPr/>
        </p:nvSpPr>
        <p:spPr>
          <a:xfrm>
            <a:off x="3977640" y="1280160"/>
            <a:ext cx="0" cy="53309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participant-S"/>
          <p:cNvSpPr/>
          <p:nvPr/>
        </p:nvSpPr>
        <p:spPr>
          <a:xfrm>
            <a:off x="3017520" y="86868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gRPC 서버 (app1/app2)</a:t>
            </a:r>
            <a:endParaRPr lang="en-US" sz="1100" dirty="0"/>
          </a:p>
        </p:txBody>
      </p:sp>
      <p:sp>
        <p:nvSpPr>
          <p:cNvPr id="7" name="lifeline-R"/>
          <p:cNvSpPr/>
          <p:nvPr/>
        </p:nvSpPr>
        <p:spPr>
          <a:xfrm>
            <a:off x="6309360" y="1280160"/>
            <a:ext cx="0" cy="53309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participant-R"/>
          <p:cNvSpPr/>
          <p:nvPr/>
        </p:nvSpPr>
        <p:spPr>
          <a:xfrm>
            <a:off x="5806440" y="86868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Redis</a:t>
            </a:r>
            <a:endParaRPr lang="en-US" sz="1100" dirty="0"/>
          </a:p>
        </p:txBody>
      </p:sp>
      <p:sp>
        <p:nvSpPr>
          <p:cNvPr id="9" name="lifeline-DB"/>
          <p:cNvSpPr/>
          <p:nvPr/>
        </p:nvSpPr>
        <p:spPr>
          <a:xfrm>
            <a:off x="7955280" y="1280160"/>
            <a:ext cx="0" cy="53309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participant-DB"/>
          <p:cNvSpPr/>
          <p:nvPr/>
        </p:nvSpPr>
        <p:spPr>
          <a:xfrm>
            <a:off x="7360920" y="8686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1" name="lifeline-K"/>
          <p:cNvSpPr/>
          <p:nvPr/>
        </p:nvSpPr>
        <p:spPr>
          <a:xfrm>
            <a:off x="9418320" y="1280160"/>
            <a:ext cx="0" cy="53309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participant-K"/>
          <p:cNvSpPr/>
          <p:nvPr/>
        </p:nvSpPr>
        <p:spPr>
          <a:xfrm>
            <a:off x="8915400" y="86868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Kafka</a:t>
            </a:r>
            <a:endParaRPr lang="en-US" sz="1100" dirty="0"/>
          </a:p>
        </p:txBody>
      </p:sp>
      <p:sp>
        <p:nvSpPr>
          <p:cNvPr id="13" name="lifeline-C"/>
          <p:cNvSpPr/>
          <p:nvPr/>
        </p:nvSpPr>
        <p:spPr>
          <a:xfrm>
            <a:off x="11109960" y="1280160"/>
            <a:ext cx="0" cy="53309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4" name="participant-C"/>
          <p:cNvSpPr/>
          <p:nvPr/>
        </p:nvSpPr>
        <p:spPr>
          <a:xfrm>
            <a:off x="10332720" y="8686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enrollment-consumer</a:t>
            </a:r>
            <a:endParaRPr lang="en-US" sz="1100" dirty="0"/>
          </a:p>
        </p:txBody>
      </p:sp>
      <p:sp>
        <p:nvSpPr>
          <p:cNvPr id="15" name="enroll-alt-1"/>
          <p:cNvSpPr/>
          <p:nvPr/>
        </p:nvSpPr>
        <p:spPr>
          <a:xfrm>
            <a:off x="411480" y="3035808"/>
            <a:ext cx="9464040" cy="1901952"/>
          </a:xfrm>
          <a:prstGeom prst="rect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enroll-alt-1-tag"/>
          <p:cNvSpPr/>
          <p:nvPr/>
        </p:nvSpPr>
        <p:spPr>
          <a:xfrm>
            <a:off x="411480" y="3035808"/>
            <a:ext cx="4572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alt</a:t>
            </a:r>
            <a:endParaRPr lang="en-US" sz="1000" dirty="0"/>
          </a:p>
        </p:txBody>
      </p:sp>
      <p:sp>
        <p:nvSpPr>
          <p:cNvPr id="17" name="enroll-alt-1-condition"/>
          <p:cNvSpPr txBox="1"/>
          <p:nvPr/>
        </p:nvSpPr>
        <p:spPr>
          <a:xfrm>
            <a:off x="960120" y="3035808"/>
            <a:ext cx="162306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[마감 / 중복 / 검사 실패]</a:t>
            </a:r>
            <a:endParaRPr lang="en-US" sz="1000" dirty="0"/>
          </a:p>
        </p:txBody>
      </p:sp>
      <p:sp>
        <p:nvSpPr>
          <p:cNvPr id="18" name="enroll-alt-1-else-1"/>
          <p:cNvSpPr/>
          <p:nvPr/>
        </p:nvSpPr>
        <p:spPr>
          <a:xfrm>
            <a:off x="411480" y="3730752"/>
            <a:ext cx="9464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9" name="enroll-alt-1-else-1-condition"/>
          <p:cNvSpPr txBox="1"/>
          <p:nvPr/>
        </p:nvSpPr>
        <p:spPr>
          <a:xfrm>
            <a:off x="960120" y="3749040"/>
            <a:ext cx="88646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[자리 확보]</a:t>
            </a:r>
            <a:endParaRPr lang="en-US" sz="1000" dirty="0"/>
          </a:p>
        </p:txBody>
      </p:sp>
      <p:sp>
        <p:nvSpPr>
          <p:cNvPr id="20" name="enroll-note-1"/>
          <p:cNvSpPr/>
          <p:nvPr/>
        </p:nvSpPr>
        <p:spPr>
          <a:xfrm>
            <a:off x="3611880" y="5074920"/>
            <a:ext cx="6172200" cy="347472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200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Kafka 발행 실패 시 Redis 자리와 목록을 되돌리고 실패 응답</a:t>
            </a:r>
            <a:endParaRPr lang="en-US" sz="1050" dirty="0"/>
          </a:p>
        </p:txBody>
      </p:sp>
      <p:sp>
        <p:nvSpPr>
          <p:cNvPr id="21" name="enroll-msg-1"/>
          <p:cNvSpPr/>
          <p:nvPr/>
        </p:nvSpPr>
        <p:spPr>
          <a:xfrm>
            <a:off x="822960" y="1645920"/>
            <a:ext cx="31363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enroll-msg-1-label"/>
          <p:cNvSpPr txBox="1"/>
          <p:nvPr/>
        </p:nvSpPr>
        <p:spPr>
          <a:xfrm>
            <a:off x="987552" y="1371600"/>
            <a:ext cx="3460623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/api/enrollments {offeringId} (Envoy 경유)</a:t>
            </a:r>
            <a:endParaRPr lang="en-US" sz="1050" dirty="0"/>
          </a:p>
        </p:txBody>
      </p:sp>
      <p:sp>
        <p:nvSpPr>
          <p:cNvPr id="23" name="enroll-msg-2"/>
          <p:cNvSpPr/>
          <p:nvPr/>
        </p:nvSpPr>
        <p:spPr>
          <a:xfrm>
            <a:off x="3977640" y="1956816"/>
            <a:ext cx="2313432" cy="0"/>
          </a:xfrm>
          <a:prstGeom prst="line">
            <a:avLst/>
          </a:prstGeom>
          <a:noFill/>
          <a:ln w="1905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24" name="enroll-msg-2-label"/>
          <p:cNvSpPr txBox="1"/>
          <p:nvPr/>
        </p:nvSpPr>
        <p:spPr>
          <a:xfrm>
            <a:off x="4195286" y="1682496"/>
            <a:ext cx="1896427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입장권 확인 (+ 유효시간 연장)</a:t>
            </a:r>
            <a:endParaRPr lang="en-US" sz="1050" dirty="0"/>
          </a:p>
        </p:txBody>
      </p:sp>
      <p:sp>
        <p:nvSpPr>
          <p:cNvPr id="25" name="enroll-msg-3"/>
          <p:cNvSpPr/>
          <p:nvPr/>
        </p:nvSpPr>
        <p:spPr>
          <a:xfrm>
            <a:off x="3977640" y="2267712"/>
            <a:ext cx="395935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6" name="enroll-msg-3-label"/>
          <p:cNvSpPr txBox="1"/>
          <p:nvPr/>
        </p:nvSpPr>
        <p:spPr>
          <a:xfrm>
            <a:off x="5181600" y="1993392"/>
            <a:ext cx="15697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선수과목 이수 여부 조회</a:t>
            </a:r>
            <a:endParaRPr lang="en-US" sz="1050" dirty="0"/>
          </a:p>
        </p:txBody>
      </p:sp>
      <p:sp>
        <p:nvSpPr>
          <p:cNvPr id="27" name="enroll-msg-4"/>
          <p:cNvSpPr/>
          <p:nvPr/>
        </p:nvSpPr>
        <p:spPr>
          <a:xfrm>
            <a:off x="3977640" y="2578608"/>
            <a:ext cx="2313432" cy="0"/>
          </a:xfrm>
          <a:prstGeom prst="line">
            <a:avLst/>
          </a:prstGeom>
          <a:noFill/>
          <a:ln w="1905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28" name="enroll-msg-4-label"/>
          <p:cNvSpPr txBox="1"/>
          <p:nvPr/>
        </p:nvSpPr>
        <p:spPr>
          <a:xfrm>
            <a:off x="4142232" y="2304288"/>
            <a:ext cx="2576512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신청 목록 → 시간 충돌, 학점 한도 검사</a:t>
            </a:r>
            <a:endParaRPr lang="en-US" sz="1050" dirty="0"/>
          </a:p>
        </p:txBody>
      </p:sp>
      <p:sp>
        <p:nvSpPr>
          <p:cNvPr id="29" name="enroll-msg-5"/>
          <p:cNvSpPr/>
          <p:nvPr/>
        </p:nvSpPr>
        <p:spPr>
          <a:xfrm>
            <a:off x="3977640" y="2889504"/>
            <a:ext cx="2313432" cy="0"/>
          </a:xfrm>
          <a:prstGeom prst="line">
            <a:avLst/>
          </a:prstGeom>
          <a:noFill/>
          <a:ln w="1905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30" name="enroll-msg-5-label"/>
          <p:cNvSpPr txBox="1"/>
          <p:nvPr/>
        </p:nvSpPr>
        <p:spPr>
          <a:xfrm>
            <a:off x="4142232" y="2615184"/>
            <a:ext cx="338194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Lua 한 번: 중복? → 자리 남음? → 자리 -1, 내 목록 추가</a:t>
            </a:r>
            <a:endParaRPr lang="en-US" sz="1050" dirty="0"/>
          </a:p>
        </p:txBody>
      </p:sp>
      <p:sp>
        <p:nvSpPr>
          <p:cNvPr id="31" name="enroll-msg-6"/>
          <p:cNvSpPr/>
          <p:nvPr/>
        </p:nvSpPr>
        <p:spPr>
          <a:xfrm flipH="1">
            <a:off x="841248" y="3602736"/>
            <a:ext cx="31363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2" name="enroll-msg-6-label"/>
          <p:cNvSpPr txBox="1"/>
          <p:nvPr/>
        </p:nvSpPr>
        <p:spPr>
          <a:xfrm>
            <a:off x="2035493" y="3328416"/>
            <a:ext cx="729615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사유</a:t>
            </a:r>
            <a:endParaRPr lang="en-US" sz="1050" dirty="0"/>
          </a:p>
        </p:txBody>
      </p:sp>
      <p:sp>
        <p:nvSpPr>
          <p:cNvPr id="33" name="enroll-msg-7"/>
          <p:cNvSpPr/>
          <p:nvPr/>
        </p:nvSpPr>
        <p:spPr>
          <a:xfrm>
            <a:off x="3977640" y="4187952"/>
            <a:ext cx="5422392" cy="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34" name="enroll-msg-7-label"/>
          <p:cNvSpPr txBox="1"/>
          <p:nvPr/>
        </p:nvSpPr>
        <p:spPr>
          <a:xfrm>
            <a:off x="5897785" y="3913632"/>
            <a:ext cx="160039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ENROLLED 이벤트 발행</a:t>
            </a:r>
            <a:endParaRPr lang="en-US" sz="1050" dirty="0"/>
          </a:p>
        </p:txBody>
      </p:sp>
      <p:sp>
        <p:nvSpPr>
          <p:cNvPr id="35" name="enroll-msg-8"/>
          <p:cNvSpPr/>
          <p:nvPr/>
        </p:nvSpPr>
        <p:spPr>
          <a:xfrm flipH="1">
            <a:off x="3995928" y="4498848"/>
            <a:ext cx="54223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6" name="enroll-msg-8-label"/>
          <p:cNvSpPr txBox="1"/>
          <p:nvPr/>
        </p:nvSpPr>
        <p:spPr>
          <a:xfrm>
            <a:off x="5971794" y="4224528"/>
            <a:ext cx="1452372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 완료 (acks=all)</a:t>
            </a:r>
            <a:endParaRPr lang="en-US" sz="1050" dirty="0"/>
          </a:p>
        </p:txBody>
      </p:sp>
      <p:sp>
        <p:nvSpPr>
          <p:cNvPr id="37" name="enroll-msg-9"/>
          <p:cNvSpPr/>
          <p:nvPr/>
        </p:nvSpPr>
        <p:spPr>
          <a:xfrm flipH="1">
            <a:off x="841248" y="4809744"/>
            <a:ext cx="31363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8" name="enroll-msg-9-label"/>
          <p:cNvSpPr txBox="1"/>
          <p:nvPr/>
        </p:nvSpPr>
        <p:spPr>
          <a:xfrm>
            <a:off x="2035493" y="4535424"/>
            <a:ext cx="729615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 완료</a:t>
            </a:r>
            <a:endParaRPr lang="en-US" sz="1050" dirty="0"/>
          </a:p>
        </p:txBody>
      </p:sp>
      <p:sp>
        <p:nvSpPr>
          <p:cNvPr id="39" name="enroll-msg-10"/>
          <p:cNvSpPr/>
          <p:nvPr/>
        </p:nvSpPr>
        <p:spPr>
          <a:xfrm>
            <a:off x="9418320" y="5760720"/>
            <a:ext cx="1673352" cy="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40" name="enroll-msg-10-label"/>
          <p:cNvSpPr txBox="1"/>
          <p:nvPr/>
        </p:nvSpPr>
        <p:spPr>
          <a:xfrm>
            <a:off x="9582912" y="5486400"/>
            <a:ext cx="160039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ENROLLED 이벤트 전달</a:t>
            </a:r>
            <a:endParaRPr lang="en-US" sz="1050" dirty="0"/>
          </a:p>
        </p:txBody>
      </p:sp>
      <p:sp>
        <p:nvSpPr>
          <p:cNvPr id="41" name="enroll-msg-11"/>
          <p:cNvSpPr/>
          <p:nvPr/>
        </p:nvSpPr>
        <p:spPr>
          <a:xfrm flipH="1">
            <a:off x="7973568" y="6071616"/>
            <a:ext cx="31363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2" name="enroll-msg-11-label"/>
          <p:cNvSpPr txBox="1"/>
          <p:nvPr/>
        </p:nvSpPr>
        <p:spPr>
          <a:xfrm>
            <a:off x="8161020" y="5797296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INSERT ... ON CONFLICT DO NOTHING</a:t>
            </a:r>
            <a:endParaRPr lang="en-US" sz="1050" dirty="0"/>
          </a:p>
        </p:txBody>
      </p:sp>
      <p:sp>
        <p:nvSpPr>
          <p:cNvPr id="43" name="enroll-msg-12"/>
          <p:cNvSpPr/>
          <p:nvPr/>
        </p:nvSpPr>
        <p:spPr>
          <a:xfrm flipH="1">
            <a:off x="9436608" y="6382512"/>
            <a:ext cx="1673352" cy="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44" name="enroll-msg-12-label"/>
          <p:cNvSpPr txBox="1"/>
          <p:nvPr/>
        </p:nvSpPr>
        <p:spPr>
          <a:xfrm>
            <a:off x="9582912" y="6108192"/>
            <a:ext cx="1577721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위치(offset) 확정</a:t>
            </a:r>
            <a:endParaRPr lang="en-US" sz="1050" dirty="0"/>
          </a:p>
        </p:txBody>
      </p:sp>
      <p:sp>
        <p:nvSpPr>
          <p:cNvPr id="45" name="enroll-msg-1-badge"/>
          <p:cNvSpPr/>
          <p:nvPr/>
        </p:nvSpPr>
        <p:spPr>
          <a:xfrm>
            <a:off x="726948" y="1549908"/>
            <a:ext cx="192024" cy="192024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enroll-msg-2-badge"/>
          <p:cNvSpPr/>
          <p:nvPr/>
        </p:nvSpPr>
        <p:spPr>
          <a:xfrm>
            <a:off x="3881628" y="1860804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enroll-msg-3-badge"/>
          <p:cNvSpPr/>
          <p:nvPr/>
        </p:nvSpPr>
        <p:spPr>
          <a:xfrm>
            <a:off x="3881628" y="2171700"/>
            <a:ext cx="192024" cy="192024"/>
          </a:xfrm>
          <a:prstGeom prst="ellipse">
            <a:avLst/>
          </a:prstGeom>
          <a:solidFill>
            <a:srgbClr val="7C3AE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enroll-msg-4-badge"/>
          <p:cNvSpPr/>
          <p:nvPr/>
        </p:nvSpPr>
        <p:spPr>
          <a:xfrm>
            <a:off x="3881628" y="2482596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enroll-msg-5-badge"/>
          <p:cNvSpPr/>
          <p:nvPr/>
        </p:nvSpPr>
        <p:spPr>
          <a:xfrm>
            <a:off x="3881628" y="2793492"/>
            <a:ext cx="192024" cy="192024"/>
          </a:xfrm>
          <a:prstGeom prst="ellipse">
            <a:avLst/>
          </a:prstGeom>
          <a:solidFill>
            <a:srgbClr val="DC382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enroll-msg-6-badge"/>
          <p:cNvSpPr/>
          <p:nvPr/>
        </p:nvSpPr>
        <p:spPr>
          <a:xfrm>
            <a:off x="3881628" y="3506724"/>
            <a:ext cx="192024" cy="192024"/>
          </a:xfrm>
          <a:prstGeom prst="ellipse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enroll-msg-7-badge"/>
          <p:cNvSpPr/>
          <p:nvPr/>
        </p:nvSpPr>
        <p:spPr>
          <a:xfrm>
            <a:off x="3881628" y="4091940"/>
            <a:ext cx="192024" cy="192024"/>
          </a:xfrm>
          <a:prstGeom prst="ellipse">
            <a:avLst/>
          </a:prstGeom>
          <a:solidFill>
            <a:srgbClr val="111827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enroll-msg-8-badge"/>
          <p:cNvSpPr/>
          <p:nvPr/>
        </p:nvSpPr>
        <p:spPr>
          <a:xfrm>
            <a:off x="9322308" y="4402836"/>
            <a:ext cx="192024" cy="192024"/>
          </a:xfrm>
          <a:prstGeom prst="ellipse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000" dirty="0"/>
          </a:p>
        </p:txBody>
      </p:sp>
      <p:sp>
        <p:nvSpPr>
          <p:cNvPr id="53" name="enroll-msg-9-badge"/>
          <p:cNvSpPr/>
          <p:nvPr/>
        </p:nvSpPr>
        <p:spPr>
          <a:xfrm>
            <a:off x="3881628" y="4713732"/>
            <a:ext cx="192024" cy="192024"/>
          </a:xfrm>
          <a:prstGeom prst="ellipse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000" dirty="0"/>
          </a:p>
        </p:txBody>
      </p:sp>
      <p:sp>
        <p:nvSpPr>
          <p:cNvPr id="54" name="enroll-msg-10-badge"/>
          <p:cNvSpPr/>
          <p:nvPr/>
        </p:nvSpPr>
        <p:spPr>
          <a:xfrm>
            <a:off x="9322308" y="5664708"/>
            <a:ext cx="192024" cy="192024"/>
          </a:xfrm>
          <a:prstGeom prst="ellipse">
            <a:avLst/>
          </a:prstGeom>
          <a:solidFill>
            <a:srgbClr val="111827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000" dirty="0"/>
          </a:p>
        </p:txBody>
      </p:sp>
      <p:sp>
        <p:nvSpPr>
          <p:cNvPr id="55" name="enroll-msg-11-badge"/>
          <p:cNvSpPr/>
          <p:nvPr/>
        </p:nvSpPr>
        <p:spPr>
          <a:xfrm>
            <a:off x="11013948" y="5975604"/>
            <a:ext cx="192024" cy="192024"/>
          </a:xfrm>
          <a:prstGeom prst="ellipse">
            <a:avLst/>
          </a:prstGeom>
          <a:solidFill>
            <a:srgbClr val="7C3AED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000" dirty="0"/>
          </a:p>
        </p:txBody>
      </p:sp>
      <p:sp>
        <p:nvSpPr>
          <p:cNvPr id="56" name="enroll-msg-12-badge"/>
          <p:cNvSpPr/>
          <p:nvPr/>
        </p:nvSpPr>
        <p:spPr>
          <a:xfrm>
            <a:off x="11013948" y="6286500"/>
            <a:ext cx="192024" cy="192024"/>
          </a:xfrm>
          <a:prstGeom prst="ellipse">
            <a:avLst/>
          </a:prstGeom>
          <a:solidFill>
            <a:srgbClr val="111827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수강신청 시스템 인프라 아키텍처</dc:title>
  <dc:subject>PptxGenJS Presentation</dc:subject>
  <dc:creator>PptxGenJS</dc:creator>
  <cp:lastModifiedBy>PptxGenJS</cp:lastModifiedBy>
  <cp:revision>1</cp:revision>
  <dcterms:created xsi:type="dcterms:W3CDTF">2026-10-14T18:11:13Z</dcterms:created>
  <dcterms:modified xsi:type="dcterms:W3CDTF">2026-10-14T18:11:13Z</dcterms:modified>
</cp:coreProperties>
</file>